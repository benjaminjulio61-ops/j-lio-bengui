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Destaqu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grafia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na de 3 Imag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BB7174C4-DE3C-4869-CED2-778DCCEBBF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5269" y="384385"/>
            <a:ext cx="9001462" cy="850857"/>
          </a:xfrm>
        </p:spPr>
        <p:txBody>
          <a:bodyPr>
            <a:normAutofit/>
          </a:bodyPr>
          <a:lstStyle/>
          <a:p>
            <a:r>
              <a:rPr lang="pt-PT" sz="3200" dirty="0"/>
              <a:t>INTRODUÇÃO </a:t>
            </a:r>
            <a:endParaRPr lang="pt-AO" sz="32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D20C796-1FBB-585E-6658-D5D8E513FE94}"/>
              </a:ext>
            </a:extLst>
          </p:cNvPr>
          <p:cNvSpPr txBox="1"/>
          <p:nvPr/>
        </p:nvSpPr>
        <p:spPr>
          <a:xfrm>
            <a:off x="962525" y="1235242"/>
            <a:ext cx="9833811" cy="2127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pt-AO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A evolução tecnológica e a automação de processos tornaram os sistemas de informação essenciais para a modernização da gestão organizacional. Ao unificar diferentes setores num único ambiente digital, as plataformas computacionais integradas substituem os métodos manuais, eliminam redundâncias e reduzem erros humanos, proporcionando maior agilidade operacional, rigor no controlo de recursos e decisões fundamentadas em dados em tempo real.</a:t>
            </a:r>
            <a:endParaRPr lang="pt-AO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376881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179548-AEA2-3827-8615-EFFCE56C8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sz="3200" b="0" dirty="0">
                <a:effectLst/>
                <a:latin typeface="+mn-lt"/>
              </a:rPr>
              <a:t>Problemática </a:t>
            </a:r>
            <a:endParaRPr lang="pt-AO" sz="3200" b="0" dirty="0">
              <a:effectLst/>
              <a:latin typeface="+mn-lt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93432B7-0477-899E-DE2F-4BB6AD578CDC}"/>
              </a:ext>
            </a:extLst>
          </p:cNvPr>
          <p:cNvSpPr txBox="1"/>
          <p:nvPr/>
        </p:nvSpPr>
        <p:spPr>
          <a:xfrm>
            <a:off x="3042675" y="1935921"/>
            <a:ext cx="6096000" cy="2127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pt-AO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 Joaquimfarma vende remédios, controla o estoque e marca consultas todos os dias. Como não usa um sistema único, surgem problemas como falta de produtos nas prateleiras, confusão de horários entre os clientes e dificuldade para ver os ganhos e resultados. </a:t>
            </a:r>
            <a:endParaRPr lang="pt-AO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723683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3967A8-0466-AC10-48C4-2E796A353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AO" sz="3200" b="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Modelo 3: Sistema Integrado Proposto para a Joaquimfarma</a:t>
            </a:r>
            <a:br>
              <a:rPr lang="pt-AO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pt-AO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D12D264-30F3-011F-5D9F-F51815185C2F}"/>
              </a:ext>
            </a:extLst>
          </p:cNvPr>
          <p:cNvSpPr txBox="1"/>
          <p:nvPr/>
        </p:nvSpPr>
        <p:spPr>
          <a:xfrm>
            <a:off x="913795" y="1102813"/>
            <a:ext cx="10220370" cy="42462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pt-AO" sz="20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pt-AO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pt-AO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 solução projetada unifica todas as vertentes num ecossistema único. A base de dados relacional é partilhada entre os módulos de vendas, estoque e consultas. </a:t>
            </a:r>
            <a:endParaRPr lang="pt-AO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pt-AO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Fluxo de Funcionamento: No momento em que uma venda é concluída no módulo de caixa, o sistema abate instantaneamente a quantidade correspondente na tabela de estoque.</a:t>
            </a:r>
            <a:endParaRPr lang="pt-AO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pt-AO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Ao agendar uma consulta, o sistema verifica automaticamente a disponibilidade do profissional e da sala, impedindo choque de horários.</a:t>
            </a:r>
            <a:endParaRPr lang="pt-AO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pt-AO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Quando a consulta é realizada, os materiais/medicamentos prescritos ou utilizados podem ser lançados diretamente na conta do utente e abatidos do inventário num único clique.</a:t>
            </a:r>
            <a:endParaRPr lang="pt-AO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170870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BA1AAC-7DDF-2368-53C6-67BB4B97E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sz="3200" b="0" dirty="0">
                <a:latin typeface="+mn-lt"/>
              </a:rPr>
              <a:t>Tabela comparativa</a:t>
            </a:r>
            <a:endParaRPr lang="pt-AO" sz="3200" b="0" dirty="0">
              <a:latin typeface="+mn-lt"/>
            </a:endParaRP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E368F88C-3902-CDC2-D84F-52729A9015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4284049"/>
              </p:ext>
            </p:extLst>
          </p:nvPr>
        </p:nvGraphicFramePr>
        <p:xfrm>
          <a:off x="1283261" y="2095499"/>
          <a:ext cx="9615952" cy="3883577"/>
        </p:xfrm>
        <a:graphic>
          <a:graphicData uri="http://schemas.openxmlformats.org/drawingml/2006/table">
            <a:tbl>
              <a:tblPr firstRow="1" firstCol="1" bandRow="1">
                <a:tableStyleId>{616DA210-FB5B-4158-B5E0-FEB733F419BA}</a:tableStyleId>
              </a:tblPr>
              <a:tblGrid>
                <a:gridCol w="2403988">
                  <a:extLst>
                    <a:ext uri="{9D8B030D-6E8A-4147-A177-3AD203B41FA5}">
                      <a16:colId xmlns:a16="http://schemas.microsoft.com/office/drawing/2014/main" val="2749166149"/>
                    </a:ext>
                  </a:extLst>
                </a:gridCol>
                <a:gridCol w="2403988">
                  <a:extLst>
                    <a:ext uri="{9D8B030D-6E8A-4147-A177-3AD203B41FA5}">
                      <a16:colId xmlns:a16="http://schemas.microsoft.com/office/drawing/2014/main" val="1054151697"/>
                    </a:ext>
                  </a:extLst>
                </a:gridCol>
                <a:gridCol w="2403988">
                  <a:extLst>
                    <a:ext uri="{9D8B030D-6E8A-4147-A177-3AD203B41FA5}">
                      <a16:colId xmlns:a16="http://schemas.microsoft.com/office/drawing/2014/main" val="3628132104"/>
                    </a:ext>
                  </a:extLst>
                </a:gridCol>
                <a:gridCol w="2403988">
                  <a:extLst>
                    <a:ext uri="{9D8B030D-6E8A-4147-A177-3AD203B41FA5}">
                      <a16:colId xmlns:a16="http://schemas.microsoft.com/office/drawing/2014/main" val="2312160079"/>
                    </a:ext>
                  </a:extLst>
                </a:gridCol>
              </a:tblGrid>
              <a:tr h="108986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pt-AO" sz="1200" kern="100">
                          <a:effectLst/>
                        </a:rPr>
                        <a:t>Critério de Avaliação</a:t>
                      </a:r>
                      <a:endParaRPr lang="pt-AO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6156" marR="106156" marT="70771" marB="7077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pt-AO" sz="1200" kern="100">
                          <a:effectLst/>
                        </a:rPr>
                        <a:t>Modelo 1: Manual / Papel</a:t>
                      </a:r>
                      <a:endParaRPr lang="pt-AO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6156" marR="106156" marT="70771" marB="7077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pt-AO" sz="1200" kern="100">
                          <a:effectLst/>
                        </a:rPr>
                        <a:t>Modelo 2: Sistemas Desconectados</a:t>
                      </a:r>
                      <a:endParaRPr lang="pt-AO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6156" marR="106156" marT="70771" marB="7077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pt-AO" sz="1200" kern="100">
                          <a:effectLst/>
                        </a:rPr>
                        <a:t>Modelo 3: Sistema Integrado Proposto</a:t>
                      </a:r>
                      <a:endParaRPr lang="pt-AO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6156" marR="106156" marT="70771" marB="70771" anchor="ctr"/>
                </a:tc>
                <a:extLst>
                  <a:ext uri="{0D108BD9-81ED-4DB2-BD59-A6C34878D82A}">
                    <a16:rowId xmlns:a16="http://schemas.microsoft.com/office/drawing/2014/main" val="404898025"/>
                  </a:ext>
                </a:extLst>
              </a:tr>
              <a:tr h="52116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pt-AO" sz="1100" kern="100">
                          <a:effectLst/>
                        </a:rPr>
                        <a:t>Atualização do Estoque</a:t>
                      </a:r>
                      <a:endParaRPr lang="pt-AO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6156" marR="106156" marT="70771" marB="7077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pt-AO" sz="1100" kern="100">
                          <a:effectLst/>
                        </a:rPr>
                        <a:t>Manual, assíncrona e sujeira a esquecimentos.</a:t>
                      </a:r>
                      <a:endParaRPr lang="pt-AO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6156" marR="106156" marT="70771" marB="7077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pt-AO" sz="1100" kern="100" dirty="0">
                          <a:effectLst/>
                        </a:rPr>
                        <a:t>Parcialmente manual (requer atualização em aplicação separada).</a:t>
                      </a:r>
                      <a:endParaRPr lang="pt-AO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6156" marR="106156" marT="70771" marB="7077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pt-AO" sz="1100" kern="100">
                          <a:effectLst/>
                        </a:rPr>
                        <a:t>Automática e imediata a cada venda ou procedimento. </a:t>
                      </a:r>
                      <a:endParaRPr lang="pt-AO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6156" marR="106156" marT="70771" marB="70771" anchor="ctr"/>
                </a:tc>
                <a:extLst>
                  <a:ext uri="{0D108BD9-81ED-4DB2-BD59-A6C34878D82A}">
                    <a16:rowId xmlns:a16="http://schemas.microsoft.com/office/drawing/2014/main" val="3652683538"/>
                  </a:ext>
                </a:extLst>
              </a:tr>
              <a:tr h="52116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pt-AO" sz="1100" kern="100">
                          <a:effectLst/>
                        </a:rPr>
                        <a:t>Agendamento de Consultas</a:t>
                      </a:r>
                      <a:endParaRPr lang="pt-AO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6156" marR="106156" marT="70771" marB="7077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pt-AO" sz="1100" kern="100">
                          <a:effectLst/>
                        </a:rPr>
                        <a:t>Anotação em cadernos ou mapas físicos.</a:t>
                      </a:r>
                      <a:endParaRPr lang="pt-AO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6156" marR="106156" marT="70771" marB="7077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pt-AO" sz="1100" kern="100">
                          <a:effectLst/>
                        </a:rPr>
                        <a:t>Software de agenda isolado da área de vendas/estoque.</a:t>
                      </a:r>
                      <a:endParaRPr lang="pt-AO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6156" marR="106156" marT="70771" marB="7077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pt-AO" sz="1100" kern="100">
                          <a:effectLst/>
                        </a:rPr>
                        <a:t>Agenda inteligente, com bloqueio de conflitos e histórico do utente. </a:t>
                      </a:r>
                      <a:endParaRPr lang="pt-AO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6156" marR="106156" marT="70771" marB="70771" anchor="ctr"/>
                </a:tc>
                <a:extLst>
                  <a:ext uri="{0D108BD9-81ED-4DB2-BD59-A6C34878D82A}">
                    <a16:rowId xmlns:a16="http://schemas.microsoft.com/office/drawing/2014/main" val="1684550559"/>
                  </a:ext>
                </a:extLst>
              </a:tr>
              <a:tr h="52116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pt-AO" sz="1100" kern="100">
                          <a:effectLst/>
                        </a:rPr>
                        <a:t>Tempo Médio por Atendimento</a:t>
                      </a:r>
                      <a:endParaRPr lang="pt-AO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6156" marR="106156" marT="70771" marB="7077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pt-AO" sz="1100" kern="100">
                          <a:effectLst/>
                        </a:rPr>
                        <a:t>Elevado (5 a 10 minutos por cliente devido a buscas manuais).</a:t>
                      </a:r>
                      <a:endParaRPr lang="pt-AO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6156" marR="106156" marT="70771" marB="7077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pt-AO" sz="1100" kern="100">
                          <a:effectLst/>
                        </a:rPr>
                        <a:t>Médio (3 a 5 minutos, alternando entre telas/softwares).</a:t>
                      </a:r>
                      <a:endParaRPr lang="pt-AO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6156" marR="106156" marT="70771" marB="7077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pt-AO" sz="1100" kern="100">
                          <a:effectLst/>
                        </a:rPr>
                        <a:t>Reduzido (1 a 2 minutos com interface unificada).</a:t>
                      </a:r>
                      <a:endParaRPr lang="pt-AO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6156" marR="106156" marT="70771" marB="70771" anchor="ctr"/>
                </a:tc>
                <a:extLst>
                  <a:ext uri="{0D108BD9-81ED-4DB2-BD59-A6C34878D82A}">
                    <a16:rowId xmlns:a16="http://schemas.microsoft.com/office/drawing/2014/main" val="3726217649"/>
                  </a:ext>
                </a:extLst>
              </a:tr>
              <a:tr h="52116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pt-AO" sz="1100" kern="100">
                          <a:effectLst/>
                        </a:rPr>
                        <a:t>Risco de Erros de Conta / Inconsistência</a:t>
                      </a:r>
                      <a:endParaRPr lang="pt-AO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6156" marR="106156" marT="70771" marB="7077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pt-AO" sz="1100" kern="100">
                          <a:effectLst/>
                        </a:rPr>
                        <a:t>Muito Elevado (falha humana recorrente).</a:t>
                      </a:r>
                      <a:endParaRPr lang="pt-AO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6156" marR="106156" marT="70771" marB="7077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pt-AO" sz="1100" kern="100">
                          <a:effectLst/>
                        </a:rPr>
                        <a:t>Médio (falha na transição manual de dados entre softwares).</a:t>
                      </a:r>
                      <a:endParaRPr lang="pt-AO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6156" marR="106156" marT="70771" marB="7077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pt-AO" sz="1100" kern="100">
                          <a:effectLst/>
                        </a:rPr>
                        <a:t>Mínimo / Nulo (regras de negócio e cálculos automatizados). </a:t>
                      </a:r>
                      <a:endParaRPr lang="pt-AO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6156" marR="106156" marT="70771" marB="70771" anchor="ctr"/>
                </a:tc>
                <a:extLst>
                  <a:ext uri="{0D108BD9-81ED-4DB2-BD59-A6C34878D82A}">
                    <a16:rowId xmlns:a16="http://schemas.microsoft.com/office/drawing/2014/main" val="593512618"/>
                  </a:ext>
                </a:extLst>
              </a:tr>
              <a:tr h="52116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pt-AO" sz="1100" kern="100">
                          <a:effectLst/>
                        </a:rPr>
                        <a:t>Geração de Relatórios Gerenciais</a:t>
                      </a:r>
                      <a:endParaRPr lang="pt-AO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6156" marR="106156" marT="70771" marB="7077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pt-AO" sz="1100" kern="100">
                          <a:effectLst/>
                        </a:rPr>
                        <a:t>Lenta, exigindo dias para compilar dados manualmente.</a:t>
                      </a:r>
                      <a:endParaRPr lang="pt-AO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6156" marR="106156" marT="70771" marB="7077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pt-AO" sz="1100" kern="100">
                          <a:effectLst/>
                        </a:rPr>
                        <a:t>Trabalhosa, requer exportação e consolidação de ficheiros.</a:t>
                      </a:r>
                      <a:endParaRPr lang="pt-AO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6156" marR="106156" marT="70771" marB="7077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pt-AO" sz="1100" kern="100" dirty="0">
                          <a:effectLst/>
                        </a:rPr>
                        <a:t>Instantânea, com gráficos e relatórios consolidados no painel. </a:t>
                      </a:r>
                      <a:endParaRPr lang="pt-AO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6156" marR="106156" marT="70771" marB="70771" anchor="ctr"/>
                </a:tc>
                <a:extLst>
                  <a:ext uri="{0D108BD9-81ED-4DB2-BD59-A6C34878D82A}">
                    <a16:rowId xmlns:a16="http://schemas.microsoft.com/office/drawing/2014/main" val="1385936192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C6FB1C54-4743-D94B-0028-FD019C4525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2700" y="20955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AO"/>
          </a:p>
        </p:txBody>
      </p:sp>
    </p:spTree>
    <p:extLst>
      <p:ext uri="{BB962C8B-B14F-4D97-AF65-F5344CB8AC3E}">
        <p14:creationId xmlns:p14="http://schemas.microsoft.com/office/powerpoint/2010/main" val="3826694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660217-09E1-ABF7-69F5-3F9ACF36D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sz="3200" b="0" dirty="0">
                <a:latin typeface="+mn-lt"/>
              </a:rPr>
              <a:t>Tecnologias</a:t>
            </a:r>
            <a:endParaRPr lang="pt-AO" sz="3200" b="0" dirty="0">
              <a:latin typeface="+mn-lt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94E66B9-6A71-D8BE-1A9C-F0197E18EF55}"/>
              </a:ext>
            </a:extLst>
          </p:cNvPr>
          <p:cNvSpPr txBox="1"/>
          <p:nvPr/>
        </p:nvSpPr>
        <p:spPr>
          <a:xfrm>
            <a:off x="373092" y="1670228"/>
            <a:ext cx="6094562" cy="18308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Bef>
                <a:spcPts val="800"/>
              </a:spcBef>
              <a:spcAft>
                <a:spcPts val="1000"/>
              </a:spcAft>
            </a:pPr>
            <a:r>
              <a:rPr lang="pt-AO" sz="20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HTML5 e CSS3 (Estrutura e Estilização)</a:t>
            </a:r>
            <a:endParaRPr lang="pt-AO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pt-AO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HTML5 (HyperText Markup Language): Utilizado para construir a estrutura semântica de todas as páginas e formulários do sistema (registo de medicamentos, abertura de caixa, agendamento de consultas).</a:t>
            </a:r>
            <a:endParaRPr lang="pt-AO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E8407C2-2A0F-CD57-E89D-2EB8F88FAB37}"/>
              </a:ext>
            </a:extLst>
          </p:cNvPr>
          <p:cNvSpPr txBox="1"/>
          <p:nvPr/>
        </p:nvSpPr>
        <p:spPr>
          <a:xfrm>
            <a:off x="6679000" y="1567636"/>
            <a:ext cx="5441112" cy="1512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Bef>
                <a:spcPts val="800"/>
              </a:spcBef>
              <a:spcAft>
                <a:spcPts val="1000"/>
              </a:spcAft>
            </a:pPr>
            <a:r>
              <a:rPr lang="pt-AO" sz="20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JavaScript (Comportamento e Dinamismo)</a:t>
            </a:r>
            <a:endParaRPr lang="pt-AO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pt-AO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 JavaScript atua no lado do cliente para garantir que a interface responda de forma instantânea às ações do utilizador:</a:t>
            </a:r>
            <a:endParaRPr lang="pt-AO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6F624C1-A012-0FDC-A781-B79B23968338}"/>
              </a:ext>
            </a:extLst>
          </p:cNvPr>
          <p:cNvSpPr txBox="1"/>
          <p:nvPr/>
        </p:nvSpPr>
        <p:spPr>
          <a:xfrm>
            <a:off x="450729" y="4037945"/>
            <a:ext cx="8658765" cy="18308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  <a:spcAft>
                <a:spcPts val="1000"/>
              </a:spcAft>
            </a:pPr>
            <a:r>
              <a:rPr lang="pt-AO" sz="20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Framework / Biblioteca Front-End: React.js (ou Vue.js)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pt-AO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Para construir uma aplicação de página única (</a:t>
            </a:r>
            <a:r>
              <a:rPr lang="pt-AO" sz="1800" b="1" i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Single Page Application - SPA</a:t>
            </a:r>
            <a:r>
              <a:rPr lang="pt-AO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 com alto desempenho:</a:t>
            </a:r>
            <a:br>
              <a:rPr lang="pt-AO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pt-AO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Arquitetura Baseada em Componentes: Reutilização de elementos visuais (tabelas de preços, botões de ação, listas de agendamento).</a:t>
            </a:r>
            <a:endParaRPr lang="pt-AO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688493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D11D7B-EE3D-1982-0FAC-EDC413CCC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sz="3200" b="0" dirty="0">
                <a:latin typeface="+mn-lt"/>
              </a:rPr>
              <a:t>TABELA DE TECNOLOGIAS</a:t>
            </a:r>
            <a:endParaRPr lang="pt-AO" sz="3200" b="0" dirty="0">
              <a:latin typeface="+mn-lt"/>
            </a:endParaRP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C4D34F66-D3A4-2ED3-4241-E58D6AC10F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5902336"/>
              </p:ext>
            </p:extLst>
          </p:nvPr>
        </p:nvGraphicFramePr>
        <p:xfrm>
          <a:off x="914400" y="2637312"/>
          <a:ext cx="10353675" cy="2612075"/>
        </p:xfrm>
        <a:graphic>
          <a:graphicData uri="http://schemas.openxmlformats.org/drawingml/2006/table">
            <a:tbl>
              <a:tblPr firstRow="1" firstCol="1" bandRow="1">
                <a:tableStyleId>{616DA210-FB5B-4158-B5E0-FEB733F419BA}</a:tableStyleId>
              </a:tblPr>
              <a:tblGrid>
                <a:gridCol w="3451225">
                  <a:extLst>
                    <a:ext uri="{9D8B030D-6E8A-4147-A177-3AD203B41FA5}">
                      <a16:colId xmlns:a16="http://schemas.microsoft.com/office/drawing/2014/main" val="261649790"/>
                    </a:ext>
                  </a:extLst>
                </a:gridCol>
                <a:gridCol w="3451225">
                  <a:extLst>
                    <a:ext uri="{9D8B030D-6E8A-4147-A177-3AD203B41FA5}">
                      <a16:colId xmlns:a16="http://schemas.microsoft.com/office/drawing/2014/main" val="363183642"/>
                    </a:ext>
                  </a:extLst>
                </a:gridCol>
                <a:gridCol w="3451225">
                  <a:extLst>
                    <a:ext uri="{9D8B030D-6E8A-4147-A177-3AD203B41FA5}">
                      <a16:colId xmlns:a16="http://schemas.microsoft.com/office/drawing/2014/main" val="4079053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pt-AO" sz="1300" kern="100">
                          <a:effectLst/>
                        </a:rPr>
                        <a:t>Camada do Sistema</a:t>
                      </a:r>
                      <a:endParaRPr lang="pt-A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pt-AO" sz="1300" kern="100">
                          <a:effectLst/>
                        </a:rPr>
                        <a:t>Tecnologia / Ferramenta Escolhida</a:t>
                      </a:r>
                      <a:endParaRPr lang="pt-A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pt-AO" sz="1300" kern="100">
                          <a:effectLst/>
                        </a:rPr>
                        <a:t>Função no Projeto</a:t>
                      </a:r>
                      <a:endParaRPr lang="pt-A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647767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pt-AO" sz="1200" kern="100">
                          <a:effectLst/>
                        </a:rPr>
                        <a:t>Front-End (Interface)</a:t>
                      </a:r>
                      <a:endParaRPr lang="pt-A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pt-AO" sz="1200" kern="100">
                          <a:effectLst/>
                        </a:rPr>
                        <a:t>HTML5, CSS3, JavaScript, React.js / Bootstrap</a:t>
                      </a:r>
                      <a:endParaRPr lang="pt-A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pt-AO" sz="1200" kern="100">
                          <a:effectLst/>
                        </a:rPr>
                        <a:t>Apresentação visual, agilidade na navegação e validação de dados do utilizador.</a:t>
                      </a:r>
                      <a:endParaRPr lang="pt-A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9217967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pt-AO" sz="1200" kern="100">
                          <a:effectLst/>
                        </a:rPr>
                        <a:t>Back-End (Servidor)</a:t>
                      </a:r>
                      <a:endParaRPr lang="pt-A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pt-AO" sz="1200" kern="100">
                          <a:effectLst/>
                        </a:rPr>
                        <a:t>Python (Django/Flask) </a:t>
                      </a:r>
                      <a:endParaRPr lang="pt-A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pt-AO" sz="1200" kern="100">
                          <a:effectLst/>
                        </a:rPr>
                        <a:t>Processamento das regras de negócio, controlo de estoque e API REST.</a:t>
                      </a:r>
                      <a:endParaRPr lang="pt-A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9088001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pt-AO" sz="1200" kern="100">
                          <a:effectLst/>
                        </a:rPr>
                        <a:t>Base de Dados (SGBD)</a:t>
                      </a:r>
                      <a:endParaRPr lang="pt-A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pt-AO" sz="1200" kern="100" dirty="0">
                          <a:effectLst/>
                        </a:rPr>
                        <a:t>PostgreSQL </a:t>
                      </a:r>
                      <a:endParaRPr lang="pt-AO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pt-AO" sz="1200" kern="100">
                          <a:effectLst/>
                        </a:rPr>
                        <a:t>Armazenamento seguro e relacional de produtos, vendas, consultas e utilizadores.</a:t>
                      </a:r>
                      <a:endParaRPr lang="pt-A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8209062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pt-AO" sz="1200" kern="100" dirty="0">
                          <a:effectLst/>
                        </a:rPr>
                        <a:t>Controlo de Versão</a:t>
                      </a:r>
                      <a:endParaRPr lang="pt-AO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pt-AO" sz="1200" kern="100">
                          <a:effectLst/>
                        </a:rPr>
                        <a:t>Git &amp; GitHub</a:t>
                      </a:r>
                      <a:endParaRPr lang="pt-A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pt-AO" sz="1200" kern="100" dirty="0">
                          <a:effectLst/>
                        </a:rPr>
                        <a:t>Gestão do código-fonte e histórico de alterações do projeto.</a:t>
                      </a:r>
                      <a:endParaRPr lang="pt-AO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86449790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6A8B4F14-FD73-4F58-7400-E36535BC77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63683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AO"/>
          </a:p>
        </p:txBody>
      </p:sp>
    </p:spTree>
    <p:extLst>
      <p:ext uri="{BB962C8B-B14F-4D97-AF65-F5344CB8AC3E}">
        <p14:creationId xmlns:p14="http://schemas.microsoft.com/office/powerpoint/2010/main" val="131252603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8EDDC8-5590-CE7F-2C69-5D75E273C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z="3200" b="0" dirty="0">
                <a:latin typeface="+mn-lt"/>
              </a:rPr>
              <a:t>Conclusão</a:t>
            </a:r>
            <a:r>
              <a:rPr lang="pt-PT" dirty="0"/>
              <a:t> </a:t>
            </a:r>
            <a:endParaRPr lang="pt-AO" dirty="0"/>
          </a:p>
        </p:txBody>
      </p:sp>
    </p:spTree>
    <p:extLst>
      <p:ext uri="{BB962C8B-B14F-4D97-AF65-F5344CB8AC3E}">
        <p14:creationId xmlns:p14="http://schemas.microsoft.com/office/powerpoint/2010/main" val="8294934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TM04033921[[fn=Damasco]]</Template>
  <TotalTime>74</TotalTime>
  <Words>650</Words>
  <Application>Microsoft Office PowerPoint</Application>
  <PresentationFormat>Ecrã Panorâmico</PresentationFormat>
  <Paragraphs>59</Paragraphs>
  <Slides>7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7</vt:i4>
      </vt:variant>
    </vt:vector>
  </HeadingPairs>
  <TitlesOfParts>
    <vt:vector size="13" baseType="lpstr">
      <vt:lpstr>Aptos</vt:lpstr>
      <vt:lpstr>Arial</vt:lpstr>
      <vt:lpstr>Bookman Old Style</vt:lpstr>
      <vt:lpstr>Rockwell</vt:lpstr>
      <vt:lpstr>Times New Roman</vt:lpstr>
      <vt:lpstr>Damask</vt:lpstr>
      <vt:lpstr>Apresentação do PowerPoint</vt:lpstr>
      <vt:lpstr>Problemática </vt:lpstr>
      <vt:lpstr>Modelo 3: Sistema Integrado Proposto para a Joaquimfarma </vt:lpstr>
      <vt:lpstr>Tabela comparativa</vt:lpstr>
      <vt:lpstr>Tecnologias</vt:lpstr>
      <vt:lpstr>TABELA DE TECNOLOGIAS</vt:lpstr>
      <vt:lpstr>Conclusão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Família Damba</dc:creator>
  <cp:lastModifiedBy>Família Damba</cp:lastModifiedBy>
  <cp:revision>2</cp:revision>
  <dcterms:created xsi:type="dcterms:W3CDTF">2026-10-21T21:00:34Z</dcterms:created>
  <dcterms:modified xsi:type="dcterms:W3CDTF">2026-10-21T22:15:17Z</dcterms:modified>
</cp:coreProperties>
</file>